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41413"/>
                </a:solidFill>
                <a:latin typeface="Charter"/>
              </a:rPr>
              <a:t>{{DOCUMENT_TITLE}}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393192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04E49"/>
                </a:solidFill>
                <a:latin typeface="Charter"/>
              </a:rPr>
              <a:t>{{One-line description.}}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A64"/>
                </a:solidFill>
                <a:latin typeface="Charter"/>
              </a:rPr>
              <a:t>{{AUTHOR}} ·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Charter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1645920"/>
            <a:ext cx="10058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21945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Char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945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{{Chapter 1}}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Char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017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{{Chapter 2}}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Char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840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{{Chapter 3}}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B365D"/>
                </a:solidFill>
                <a:latin typeface="Char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663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har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harter"/>
              </a:rPr>
              <a:t>{{Chapter Title}}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{{CHAPTER · THIS PAGE}}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41413"/>
                </a:solidFill>
                <a:latin typeface="Charter"/>
              </a:rPr>
              <a:t>{{Core claim as a sentence}}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D3D3A"/>
                </a:solidFill>
                <a:latin typeface="Charter"/>
              </a:rPr>
              <a:t>{{A short body paragraph, 18pt sans. Keep it under three lines. One slide, one core idea. The reader's attention is the scarce resource.}}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141413"/>
                </a:solidFill>
                <a:latin typeface="Charter"/>
              </a:rPr>
              <a:t>Key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235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+42%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Conversion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99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3.8M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699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Monthly actives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Availability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6276" y="2743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0" i="0">
                <a:solidFill>
                  <a:srgbClr val="1B365D"/>
                </a:solidFill>
                <a:latin typeface="Charter"/>
              </a:rPr>
              <a:t>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6" y="4389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QPS peak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i="0">
                <a:solidFill>
                  <a:srgbClr val="141413"/>
                </a:solidFill>
                <a:latin typeface="Charter"/>
              </a:rPr>
              <a:t>“Good design is as little design as possible.”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04E49"/>
                </a:solidFill>
                <a:latin typeface="Charter"/>
              </a:rPr>
              <a:t> - Dieter 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{{CHAPTER · COMPARISON}}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914400"/>
            <a:ext cx="0" cy="5303520"/>
          </a:xfrm>
          <a:prstGeom prst="line">
            <a:avLst/>
          </a:prstGeom>
          <a:ln w="1270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" y="1097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04E49"/>
                </a:solidFill>
                <a:latin typeface="Charter"/>
              </a:rPr>
              <a:t>{{Before}}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3"/>
                </a:solidFill>
                <a:latin typeface="Charter"/>
              </a:rPr>
              <a:t>{{After}}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2011680"/>
            <a:ext cx="105156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37744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Charter"/>
              </a:rPr>
              <a:t>{{Point A}}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Charter"/>
              </a:rPr>
              <a:t>{{Point B}}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6A64"/>
                </a:solidFill>
                <a:latin typeface="Charter"/>
              </a:rPr>
              <a:t>{{Point C}}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{{Improvement A}}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{{Improvement B}}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D3D3A"/>
                </a:solidFill>
                <a:latin typeface="Charter"/>
              </a:rPr>
              <a:t>{{Improvement C}}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4"/>
                </a:solidFill>
                <a:latin typeface="Charter"/>
              </a:rPr>
              <a:t>{{CHAPTER · PROCESS}}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41413"/>
                </a:solidFill>
                <a:latin typeface="Charter"/>
              </a:rPr>
              <a:t>{{Process headline as a declarative sentence}}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965960"/>
            <a:ext cx="10058400" cy="0"/>
          </a:xfrm>
          <a:prstGeom prst="line">
            <a:avLst/>
          </a:prstGeom>
          <a:ln w="63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{{Step 1}}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{{Short description of step 1. Keep to two lines.}}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{{Step 2}}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{{Short description of step 2. Keep to two lines.}}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2286000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B365D"/>
                </a:solidFill>
                <a:latin typeface="Char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0" y="31546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3"/>
                </a:solidFill>
                <a:latin typeface="Charter"/>
              </a:rPr>
              <a:t>{{Step 3}}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0" y="3794760"/>
            <a:ext cx="332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04E49"/>
                </a:solidFill>
                <a:latin typeface="Charter"/>
              </a:rPr>
              <a:t>{{Short description of step 3. Keep to two lines.}}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A64"/>
                </a:solidFill>
                <a:latin typeface="Charter"/>
              </a:rPr>
              <a:t> - 09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41413"/>
                </a:solidFill>
                <a:latin typeface="Charter"/>
              </a:rP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4114800"/>
            <a:ext cx="9144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504E49"/>
                </a:solidFill>
                <a:latin typeface="Charter"/>
              </a:rPr>
              <a:t>{{EMAIL}} · {{WEBSITE}}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